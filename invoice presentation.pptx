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CE4CF2D-7B1D-03AF-9F0E-F741026F10E3}">
          <p14:sldIdLst>
            <p14:sldId id="256"/>
          </p14:sldIdLst>
        </p14:section>
        <p14:section name="Solution" id="{5BC4E917-BE9B-9062-819D-87400BFBF622}">
          <p14:sldIdLst>
            <p14:sldId id="257"/>
            <p14:sldId id="258"/>
            <p14:sldId id="259"/>
          </p14:sldIdLst>
        </p14:section>
        <p14:section name="Results" id="{78E8719F-46CB-288F-DD22-9412A50E5723}">
          <p14:sldIdLst>
            <p14:sldId id="260"/>
            <p14:sldId id="261"/>
          </p14:sldIdLst>
        </p14:section>
        <p14:section name="AI workflow" id="{D697B3A0-ED3B-959F-3DEC-4DDBD7A9C0D3}">
          <p14:sldIdLst>
            <p14:sldId id="262"/>
          </p14:sldIdLst>
        </p14:section>
        <p14:section name="Wrap-up" id="{6A2131D5-93D6-2B59-3DE3-54B63026D23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4" d="100"/>
          <a:sy n="164" d="100"/>
        </p:scale>
        <p:origin x="-1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BA836-7E02-497D-97FE-8ED4772A9E15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D556F-9171-42B1-BE2A-9ECC9F6F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9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 built a small accounts-payable review tool for a fictional business. It reads invoice images with a vision model, matches them to purchase orders and receipts, and shows a reviewer what was ordered, received and billed. The one idea behind every decision: the model only reads and writes text, all arithmetic and every decision is plain, tested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has six steps. The model appears twice: it extracts fields from the image, and it drafts a short discrepancy note at the end. Everything in between is Python: converting printed amounts to integer cents, matching to the purchase order, computing expected versus billed, detecting duplicates. Results are saved as JSON files, and the Streamlit UI sits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decisions carry most of the reliability. Money is integer cents parsed with Decimal, so there is never a rounding question. Matching is exact: if the model misreads PO-5 as PO-S, the invoice stays unresolved instead of being fuzzily matched. The model returns null rather than guessing. Corrections never overwrite the original extraction. And every result says where it came from: a live call, a cached real response, or a labelled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wrong-price invoice. On the left is the original image, on the right the expected 100 dollars against 120 billed, a 20 dollar difference, plus where the extraction came from. The table shows original and corrected values side by side. The queue gives status counts and filters. A correction reruns reconciliation for the whole batch, because a corrected invoice number can change which invoice is the duplicate.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 report compares the application against expected values that a separate script computed from structured records, never from app output. All five mandatory checks pass: the clean match, the 20 dollar price difference, the duplicate excluded from totals, the missing PO that stays unresolved, and a correction that moves an invoice from unresolved to reconciled and survives a restart. Three more cases and three batch-level checks also pass, including one where a forced failure on one invoice does not stop the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was designed to catch shortcuts. The two seed purchase orders are identical, so only the PO number can match. The clean and duplicate images are byte-identical, so which one is the original has to come from processing order. Supplier S2 has a different price for the same SKU. Where the supplied rules were silent, for example a short receipt, I recorded a decision instead of inventing an amount. Fifteen of these are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Claude Code as an orchestrator with two subagents. The implementer writes one phase with its tests, a pytest gate runs in replay mode, and a read-only reviewer checks the diff against a checklist: no float money, no fuzzy matching, no reading the answer key, inputs untouched. I approved every phase. Three moments show why this mattered: the implementer stopped and asked when one of my rules broke all seed invoices; the reviewer blocked the UI phase because it crashed on an older Streamlit and a test was silently skipped; and the check report exposed a disagreement about which invoices count as payable.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honest about the limits: eight clean rendered invoices say little about accuracy on real scans, the correction demo starts from a labelled simulated misread, and the note guard checks that amounts exist rather than that each sits in the right place. Next I would evaluate extraction on noisy scans field by field, tighten the guard, and add PDF input and export. Everything runs without an API key in replay mode. Thanks.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reconciliation &amp; review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AI reads the invoice. Code decides what it means</a:t>
            </a:r>
            <a:r>
              <a:rPr lang="en-US" sz="1800" dirty="0" smtClean="0">
                <a:solidFill>
                  <a:schemeClr val="accent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chip reconciled"/>
          <p:cNvSpPr/>
          <p:nvPr/>
        </p:nvSpPr>
        <p:spPr>
          <a:xfrm>
            <a:off x="548640" y="4069080"/>
            <a:ext cx="10515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hip text reconciled"/>
          <p:cNvSpPr txBox="1"/>
          <p:nvPr/>
        </p:nvSpPr>
        <p:spPr>
          <a:xfrm>
            <a:off x="548640" y="4069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reconciled</a:t>
            </a:r>
            <a:endParaRPr lang="en-US" sz="1100" dirty="0"/>
          </a:p>
        </p:txBody>
      </p:sp>
      <p:sp>
        <p:nvSpPr>
          <p:cNvPr id="6" name="chip discrepant"/>
          <p:cNvSpPr/>
          <p:nvPr/>
        </p:nvSpPr>
        <p:spPr>
          <a:xfrm>
            <a:off x="1737360" y="4069080"/>
            <a:ext cx="10515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chip text discrepant"/>
          <p:cNvSpPr txBox="1"/>
          <p:nvPr/>
        </p:nvSpPr>
        <p:spPr>
          <a:xfrm>
            <a:off x="1737360" y="4069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discrepant</a:t>
            </a:r>
            <a:endParaRPr lang="en-US" sz="1100" dirty="0"/>
          </a:p>
        </p:txBody>
      </p:sp>
      <p:sp>
        <p:nvSpPr>
          <p:cNvPr id="8" name="chip unresolved"/>
          <p:cNvSpPr/>
          <p:nvPr/>
        </p:nvSpPr>
        <p:spPr>
          <a:xfrm>
            <a:off x="2926080" y="4069080"/>
            <a:ext cx="105156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hip text unresolved"/>
          <p:cNvSpPr txBox="1"/>
          <p:nvPr/>
        </p:nvSpPr>
        <p:spPr>
          <a:xfrm>
            <a:off x="2926080" y="4069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unresolved</a:t>
            </a:r>
            <a:endParaRPr lang="en-US" sz="1100" dirty="0"/>
          </a:p>
        </p:txBody>
      </p:sp>
      <p:sp>
        <p:nvSpPr>
          <p:cNvPr id="10" name="chip duplicate"/>
          <p:cNvSpPr/>
          <p:nvPr/>
        </p:nvSpPr>
        <p:spPr>
          <a:xfrm>
            <a:off x="4114800" y="4069080"/>
            <a:ext cx="105156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hip text duplicate"/>
          <p:cNvSpPr txBox="1"/>
          <p:nvPr/>
        </p:nvSpPr>
        <p:spPr>
          <a:xfrm>
            <a:off x="4114800" y="4069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duplicate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two jobs for the model</a:t>
            </a:r>
            <a:endParaRPr lang="en-US" sz="2800" dirty="0"/>
          </a:p>
        </p:txBody>
      </p:sp>
      <p:sp>
        <p:nvSpPr>
          <p:cNvPr id="3" name="step Image"/>
          <p:cNvSpPr/>
          <p:nvPr/>
        </p:nvSpPr>
        <p:spPr>
          <a:xfrm>
            <a:off x="457200" y="1417320"/>
            <a:ext cx="1234440" cy="16002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" name="step title Image"/>
          <p:cNvSpPr txBox="1"/>
          <p:nvPr/>
        </p:nvSpPr>
        <p:spPr>
          <a:xfrm>
            <a:off x="548640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Image</a:t>
            </a:r>
            <a:endParaRPr lang="en-US" sz="1500" dirty="0"/>
          </a:p>
        </p:txBody>
      </p:sp>
      <p:sp>
        <p:nvSpPr>
          <p:cNvPr id="5" name="step desc Image"/>
          <p:cNvSpPr txBox="1"/>
          <p:nvPr/>
        </p:nvSpPr>
        <p:spPr>
          <a:xfrm>
            <a:off x="548640" y="19659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PNG, two layouts, multi-line</a:t>
            </a:r>
            <a:endParaRPr lang="en-US" sz="1100" dirty="0"/>
          </a:p>
        </p:txBody>
      </p:sp>
      <p:sp>
        <p:nvSpPr>
          <p:cNvPr id="6" name="chip input"/>
          <p:cNvSpPr/>
          <p:nvPr/>
        </p:nvSpPr>
        <p:spPr>
          <a:xfrm>
            <a:off x="594360" y="2633472"/>
            <a:ext cx="960120" cy="246888"/>
          </a:xfrm>
          <a:prstGeom prst="roundRect">
            <a:avLst>
              <a:gd name="adj" fmla="val 5555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chip text input"/>
          <p:cNvSpPr txBox="1"/>
          <p:nvPr/>
        </p:nvSpPr>
        <p:spPr>
          <a:xfrm>
            <a:off x="594360" y="26334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input</a:t>
            </a:r>
            <a:endParaRPr lang="en-US" sz="1000" dirty="0"/>
          </a:p>
        </p:txBody>
      </p:sp>
      <p:sp>
        <p:nvSpPr>
          <p:cNvPr id="8" name="arrow 0"/>
          <p:cNvSpPr/>
          <p:nvPr/>
        </p:nvSpPr>
        <p:spPr>
          <a:xfrm>
            <a:off x="1709928" y="2217420"/>
            <a:ext cx="12801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step Extract"/>
          <p:cNvSpPr/>
          <p:nvPr/>
        </p:nvSpPr>
        <p:spPr>
          <a:xfrm>
            <a:off x="1856232" y="1417320"/>
            <a:ext cx="1234440" cy="16002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tep title Extract"/>
          <p:cNvSpPr txBox="1"/>
          <p:nvPr/>
        </p:nvSpPr>
        <p:spPr>
          <a:xfrm>
            <a:off x="1947672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Extract</a:t>
            </a:r>
            <a:endParaRPr lang="en-US" sz="1500" dirty="0"/>
          </a:p>
        </p:txBody>
      </p:sp>
      <p:sp>
        <p:nvSpPr>
          <p:cNvPr id="11" name="step desc Extract"/>
          <p:cNvSpPr txBox="1"/>
          <p:nvPr/>
        </p:nvSpPr>
        <p:spPr>
          <a:xfrm>
            <a:off x="1947672" y="19659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Gemini 2.5 Flash, JSON schema, strings as printed</a:t>
            </a:r>
            <a:endParaRPr lang="en-US" sz="1100" dirty="0"/>
          </a:p>
        </p:txBody>
      </p:sp>
      <p:sp>
        <p:nvSpPr>
          <p:cNvPr id="12" name="chip Gemini"/>
          <p:cNvSpPr/>
          <p:nvPr/>
        </p:nvSpPr>
        <p:spPr>
          <a:xfrm>
            <a:off x="1993392" y="2633472"/>
            <a:ext cx="960120" cy="246888"/>
          </a:xfrm>
          <a:prstGeom prst="roundRect">
            <a:avLst>
              <a:gd name="adj" fmla="val 555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chip text Gemini"/>
          <p:cNvSpPr txBox="1"/>
          <p:nvPr/>
        </p:nvSpPr>
        <p:spPr>
          <a:xfrm>
            <a:off x="1993392" y="26334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Gemini</a:t>
            </a:r>
            <a:endParaRPr lang="en-US" sz="1000" dirty="0"/>
          </a:p>
        </p:txBody>
      </p:sp>
      <p:sp>
        <p:nvSpPr>
          <p:cNvPr id="14" name="arrow 1"/>
          <p:cNvSpPr/>
          <p:nvPr/>
        </p:nvSpPr>
        <p:spPr>
          <a:xfrm>
            <a:off x="3108960" y="2217420"/>
            <a:ext cx="12801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step Normalize"/>
          <p:cNvSpPr/>
          <p:nvPr/>
        </p:nvSpPr>
        <p:spPr>
          <a:xfrm>
            <a:off x="3255264" y="1417320"/>
            <a:ext cx="1234440" cy="16002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step title Normalize"/>
          <p:cNvSpPr txBox="1"/>
          <p:nvPr/>
        </p:nvSpPr>
        <p:spPr>
          <a:xfrm>
            <a:off x="3346704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Normalize</a:t>
            </a:r>
            <a:endParaRPr lang="en-US" sz="1500" dirty="0"/>
          </a:p>
        </p:txBody>
      </p:sp>
      <p:sp>
        <p:nvSpPr>
          <p:cNvPr id="17" name="step desc Normalize"/>
          <p:cNvSpPr txBox="1"/>
          <p:nvPr/>
        </p:nvSpPr>
        <p:spPr>
          <a:xfrm>
            <a:off x="3346704" y="19659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Decimal to integer cents, validate</a:t>
            </a:r>
            <a:endParaRPr lang="en-US" sz="1100" dirty="0"/>
          </a:p>
        </p:txBody>
      </p:sp>
      <p:sp>
        <p:nvSpPr>
          <p:cNvPr id="18" name="chip Python"/>
          <p:cNvSpPr/>
          <p:nvPr/>
        </p:nvSpPr>
        <p:spPr>
          <a:xfrm>
            <a:off x="3392424" y="2633472"/>
            <a:ext cx="960120" cy="246888"/>
          </a:xfrm>
          <a:prstGeom prst="roundRect">
            <a:avLst>
              <a:gd name="adj" fmla="val 55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chip text Python"/>
          <p:cNvSpPr txBox="1"/>
          <p:nvPr/>
        </p:nvSpPr>
        <p:spPr>
          <a:xfrm>
            <a:off x="3392424" y="26334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Python</a:t>
            </a:r>
            <a:endParaRPr lang="en-US" sz="1000" dirty="0"/>
          </a:p>
        </p:txBody>
      </p:sp>
      <p:sp>
        <p:nvSpPr>
          <p:cNvPr id="20" name="arrow 2"/>
          <p:cNvSpPr/>
          <p:nvPr/>
        </p:nvSpPr>
        <p:spPr>
          <a:xfrm>
            <a:off x="4507992" y="2217420"/>
            <a:ext cx="12801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step Match"/>
          <p:cNvSpPr/>
          <p:nvPr/>
        </p:nvSpPr>
        <p:spPr>
          <a:xfrm>
            <a:off x="4654296" y="1417320"/>
            <a:ext cx="1234440" cy="16002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step title Match"/>
          <p:cNvSpPr txBox="1"/>
          <p:nvPr/>
        </p:nvSpPr>
        <p:spPr>
          <a:xfrm>
            <a:off x="4745736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Match</a:t>
            </a:r>
            <a:endParaRPr lang="en-US" sz="1500" dirty="0"/>
          </a:p>
        </p:txBody>
      </p:sp>
      <p:sp>
        <p:nvSpPr>
          <p:cNvPr id="23" name="step desc Match"/>
          <p:cNvSpPr txBox="1"/>
          <p:nvPr/>
        </p:nvSpPr>
        <p:spPr>
          <a:xfrm>
            <a:off x="4745736" y="19659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exact supplier + PO, lines by SKU</a:t>
            </a:r>
            <a:endParaRPr lang="en-US" sz="1100" dirty="0"/>
          </a:p>
        </p:txBody>
      </p:sp>
      <p:sp>
        <p:nvSpPr>
          <p:cNvPr id="24" name="chip Python"/>
          <p:cNvSpPr/>
          <p:nvPr/>
        </p:nvSpPr>
        <p:spPr>
          <a:xfrm>
            <a:off x="4791456" y="2633472"/>
            <a:ext cx="960120" cy="246888"/>
          </a:xfrm>
          <a:prstGeom prst="roundRect">
            <a:avLst>
              <a:gd name="adj" fmla="val 55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chip text Python"/>
          <p:cNvSpPr txBox="1"/>
          <p:nvPr/>
        </p:nvSpPr>
        <p:spPr>
          <a:xfrm>
            <a:off x="4791456" y="26334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Python</a:t>
            </a:r>
            <a:endParaRPr lang="en-US" sz="1000" dirty="0"/>
          </a:p>
        </p:txBody>
      </p:sp>
      <p:sp>
        <p:nvSpPr>
          <p:cNvPr id="26" name="arrow 3"/>
          <p:cNvSpPr/>
          <p:nvPr/>
        </p:nvSpPr>
        <p:spPr>
          <a:xfrm>
            <a:off x="5907024" y="2217420"/>
            <a:ext cx="12801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step Reconcile"/>
          <p:cNvSpPr/>
          <p:nvPr/>
        </p:nvSpPr>
        <p:spPr>
          <a:xfrm>
            <a:off x="6053328" y="1417320"/>
            <a:ext cx="1234440" cy="16002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tep title Reconcile"/>
          <p:cNvSpPr txBox="1"/>
          <p:nvPr/>
        </p:nvSpPr>
        <p:spPr>
          <a:xfrm>
            <a:off x="6144768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Reconcile</a:t>
            </a:r>
            <a:endParaRPr lang="en-US" sz="1500" dirty="0"/>
          </a:p>
        </p:txBody>
      </p:sp>
      <p:sp>
        <p:nvSpPr>
          <p:cNvPr id="29" name="step desc Reconcile"/>
          <p:cNvSpPr txBox="1"/>
          <p:nvPr/>
        </p:nvSpPr>
        <p:spPr>
          <a:xfrm>
            <a:off x="6144768" y="19659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findings, status, duplicates, totals</a:t>
            </a:r>
            <a:endParaRPr lang="en-US" sz="1100" dirty="0"/>
          </a:p>
        </p:txBody>
      </p:sp>
      <p:sp>
        <p:nvSpPr>
          <p:cNvPr id="30" name="chip Python"/>
          <p:cNvSpPr/>
          <p:nvPr/>
        </p:nvSpPr>
        <p:spPr>
          <a:xfrm>
            <a:off x="6190488" y="2633472"/>
            <a:ext cx="960120" cy="246888"/>
          </a:xfrm>
          <a:prstGeom prst="roundRect">
            <a:avLst>
              <a:gd name="adj" fmla="val 55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chip text Python"/>
          <p:cNvSpPr txBox="1"/>
          <p:nvPr/>
        </p:nvSpPr>
        <p:spPr>
          <a:xfrm>
            <a:off x="6190488" y="26334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Python</a:t>
            </a:r>
            <a:endParaRPr lang="en-US" sz="1000" dirty="0"/>
          </a:p>
        </p:txBody>
      </p:sp>
      <p:sp>
        <p:nvSpPr>
          <p:cNvPr id="32" name="arrow 4"/>
          <p:cNvSpPr/>
          <p:nvPr/>
        </p:nvSpPr>
        <p:spPr>
          <a:xfrm>
            <a:off x="7306056" y="2217420"/>
            <a:ext cx="12801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3" name="step Draft note"/>
          <p:cNvSpPr/>
          <p:nvPr/>
        </p:nvSpPr>
        <p:spPr>
          <a:xfrm>
            <a:off x="7452360" y="1417320"/>
            <a:ext cx="1234440" cy="160020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step title Draft note"/>
          <p:cNvSpPr txBox="1"/>
          <p:nvPr/>
        </p:nvSpPr>
        <p:spPr>
          <a:xfrm>
            <a:off x="7543800" y="15544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Draft note</a:t>
            </a:r>
            <a:endParaRPr lang="en-US" sz="1500" dirty="0"/>
          </a:p>
        </p:txBody>
      </p:sp>
      <p:sp>
        <p:nvSpPr>
          <p:cNvPr id="35" name="step desc Draft note"/>
          <p:cNvSpPr txBox="1"/>
          <p:nvPr/>
        </p:nvSpPr>
        <p:spPr>
          <a:xfrm>
            <a:off x="7543800" y="19659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from verified findings only</a:t>
            </a:r>
            <a:endParaRPr lang="en-US" sz="1100" dirty="0"/>
          </a:p>
        </p:txBody>
      </p:sp>
      <p:sp>
        <p:nvSpPr>
          <p:cNvPr id="36" name="chip Gemini"/>
          <p:cNvSpPr/>
          <p:nvPr/>
        </p:nvSpPr>
        <p:spPr>
          <a:xfrm>
            <a:off x="7589520" y="2633472"/>
            <a:ext cx="960120" cy="246888"/>
          </a:xfrm>
          <a:prstGeom prst="roundRect">
            <a:avLst>
              <a:gd name="adj" fmla="val 555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chip text Gemini"/>
          <p:cNvSpPr txBox="1"/>
          <p:nvPr/>
        </p:nvSpPr>
        <p:spPr>
          <a:xfrm>
            <a:off x="7589520" y="26334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Gemini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2918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Model reads and phrases. </a:t>
            </a:r>
            <a:r>
              <a:rPr lang="en-US" sz="1400" dirty="0">
                <a:solidFill>
                  <a:schemeClr val="tx1"/>
                </a:solidFill>
              </a:rPr>
              <a:t>It returns printed values ("24.00") and null for anything missing, never a guess.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Python computes and decides. </a:t>
            </a:r>
            <a:r>
              <a:rPr lang="en-US" sz="1400" dirty="0">
                <a:solidFill>
                  <a:schemeClr val="tx1"/>
                </a:solidFill>
              </a:rPr>
              <a:t>Every amount, match and status is deterministic and covered by 122 tests.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 reviewer closes the loop. </a:t>
            </a:r>
            <a:r>
              <a:rPr lang="en-US" sz="1400" dirty="0">
                <a:solidFill>
                  <a:schemeClr val="tx1"/>
                </a:solidFill>
              </a:rPr>
              <a:t>Streamlit UI: image beside fields, corrections rerun the whole batch and persist on disk.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that keep the numbers trustworthy</a:t>
            </a:r>
            <a:endParaRPr lang="en-US" sz="2800" dirty="0"/>
          </a:p>
        </p:txBody>
      </p:sp>
      <p:sp>
        <p:nvSpPr>
          <p:cNvPr id="3" name="card 0"/>
          <p:cNvSpPr/>
          <p:nvPr/>
        </p:nvSpPr>
        <p:spPr>
          <a:xfrm>
            <a:off x="457200" y="1188720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dot 0"/>
          <p:cNvSpPr/>
          <p:nvPr/>
        </p:nvSpPr>
        <p:spPr>
          <a:xfrm>
            <a:off x="640080" y="137160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53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Integer cents only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40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Decimal parsing; more than two decimals is an error. Expected = ordered qty × agreed price, so rounding is never needed.</a:t>
            </a:r>
            <a:endParaRPr lang="en-US" sz="1150" dirty="0"/>
          </a:p>
        </p:txBody>
      </p:sp>
      <p:sp>
        <p:nvSpPr>
          <p:cNvPr id="8" name="card 1"/>
          <p:cNvSpPr/>
          <p:nvPr/>
        </p:nvSpPr>
        <p:spPr>
          <a:xfrm>
            <a:off x="3268980" y="1188720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dot 1"/>
          <p:cNvSpPr/>
          <p:nvPr/>
        </p:nvSpPr>
        <p:spPr>
          <a:xfrm>
            <a:off x="3451860" y="137160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63340" y="1353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Exact matching only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783080"/>
            <a:ext cx="2240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Supplier + PO-ID, lines by SKU. A misread "PO-S" stays unresolved instead of silently becoming PO-5.</a:t>
            </a:r>
            <a:endParaRPr lang="en-US" sz="1150" dirty="0"/>
          </a:p>
        </p:txBody>
      </p:sp>
      <p:sp>
        <p:nvSpPr>
          <p:cNvPr id="13" name="card 2"/>
          <p:cNvSpPr/>
          <p:nvPr/>
        </p:nvSpPr>
        <p:spPr>
          <a:xfrm>
            <a:off x="6080760" y="1188720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dot 2"/>
          <p:cNvSpPr/>
          <p:nvPr/>
        </p:nvSpPr>
        <p:spPr>
          <a:xfrm>
            <a:off x="6263640" y="137160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353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Null beats a guess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783080"/>
            <a:ext cx="2240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Missing or placeholder fields come back null with a warning. No confidence scores: self-reported confidence is not calibrated.</a:t>
            </a:r>
            <a:endParaRPr lang="en-US" sz="1150" dirty="0"/>
          </a:p>
        </p:txBody>
      </p:sp>
      <p:sp>
        <p:nvSpPr>
          <p:cNvPr id="18" name="card 3"/>
          <p:cNvSpPr/>
          <p:nvPr/>
        </p:nvSpPr>
        <p:spPr>
          <a:xfrm>
            <a:off x="457200" y="295351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dot 3"/>
          <p:cNvSpPr/>
          <p:nvPr/>
        </p:nvSpPr>
        <p:spPr>
          <a:xfrm>
            <a:off x="640080" y="3136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1181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Original is immutable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47872"/>
            <a:ext cx="2240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Corrections are an overlay with history and pass the same validation as model output.</a:t>
            </a:r>
            <a:endParaRPr lang="en-US" sz="1150" dirty="0"/>
          </a:p>
        </p:txBody>
      </p:sp>
      <p:sp>
        <p:nvSpPr>
          <p:cNvPr id="23" name="card 4"/>
          <p:cNvSpPr/>
          <p:nvPr/>
        </p:nvSpPr>
        <p:spPr>
          <a:xfrm>
            <a:off x="3268980" y="295351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rd dot 4"/>
          <p:cNvSpPr/>
          <p:nvPr/>
        </p:nvSpPr>
        <p:spPr>
          <a:xfrm>
            <a:off x="3451860" y="3136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186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63340" y="31181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Replay by default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51860" y="3547872"/>
            <a:ext cx="2240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Saved real Gemini responses run the whole app and the tests without an API key.</a:t>
            </a:r>
            <a:endParaRPr lang="en-US" sz="1150" dirty="0"/>
          </a:p>
        </p:txBody>
      </p:sp>
      <p:sp>
        <p:nvSpPr>
          <p:cNvPr id="28" name="card 5"/>
          <p:cNvSpPr/>
          <p:nvPr/>
        </p:nvSpPr>
        <p:spPr>
          <a:xfrm>
            <a:off x="6080760" y="295351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ard dot 5"/>
          <p:cNvSpPr/>
          <p:nvPr/>
        </p:nvSpPr>
        <p:spPr>
          <a:xfrm>
            <a:off x="6263640" y="313639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31181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Provenance labels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547872"/>
            <a:ext cx="2240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Each extraction and note is labelled live, cached or simulated, so a simulation never passes as real.</a:t>
            </a:r>
            <a:endParaRPr lang="en-US" sz="11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reviewer sees evidence, not just a verdict</a:t>
            </a:r>
            <a:endParaRPr lang="en-US" sz="2800" dirty="0"/>
          </a:p>
        </p:txBody>
      </p:sp>
      <p:pic>
        <p:nvPicPr>
          <p:cNvPr id="3" name="invoice detail screenshot" descr="/home/claude/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120640" cy="3200400"/>
          </a:xfrm>
          <a:prstGeom prst="rect">
            <a:avLst/>
          </a:prstGeom>
        </p:spPr>
      </p:pic>
      <p:sp>
        <p:nvSpPr>
          <p:cNvPr id="4" name="frame detail"/>
          <p:cNvSpPr/>
          <p:nvPr/>
        </p:nvSpPr>
        <p:spPr>
          <a:xfrm>
            <a:off x="457200" y="1143000"/>
            <a:ext cx="5120640" cy="3200400"/>
          </a:xfrm>
          <a:prstGeom prst="rect">
            <a:avLst/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4074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Invoice detail: original image, expected vs billed, extraction source, original vs corrected values</a:t>
            </a:r>
            <a:endParaRPr lang="en-US" sz="1000" dirty="0"/>
          </a:p>
        </p:txBody>
      </p:sp>
      <p:pic>
        <p:nvPicPr>
          <p:cNvPr id="6" name="queue screenshot" descr="/home/claude/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143000"/>
            <a:ext cx="2834640" cy="1426464"/>
          </a:xfrm>
          <a:prstGeom prst="rect">
            <a:avLst/>
          </a:prstGeom>
        </p:spPr>
      </p:pic>
      <p:sp>
        <p:nvSpPr>
          <p:cNvPr id="7" name="frame queue"/>
          <p:cNvSpPr/>
          <p:nvPr/>
        </p:nvSpPr>
        <p:spPr>
          <a:xfrm>
            <a:off x="5852160" y="1143000"/>
            <a:ext cx="2834640" cy="1426464"/>
          </a:xfrm>
          <a:prstGeom prst="rect">
            <a:avLst/>
          </a:prstGeom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852160" y="2615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Review queue with status counts and filters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852160" y="30175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Correct a field, the whole batch is re-reconciled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Corrections and review status survive a restart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Draft notes are labelled DRAFT and number-guarded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of 11 checks pass against independent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checks passed in replay mode, no API key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$30.00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recoverable, from discrepant invoices only</a:t>
            </a:r>
            <a:endParaRPr lang="en-US" sz="1300" dirty="0"/>
          </a:p>
        </p:txBody>
      </p:sp>
      <p:graphicFrame>
        <p:nvGraphicFramePr>
          <p:cNvPr id="8" name="check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188720"/>
          <a:ext cx="5577840" cy="3291840"/>
        </p:xfrm>
        <a:graphic>
          <a:graphicData uri="http://schemas.openxmlformats.org/drawingml/2006/table">
            <a:tbl>
              <a:tblPr/>
              <a:tblGrid>
                <a:gridCol w="548640"/>
                <a:gridCol w="1417320"/>
                <a:gridCol w="2560320"/>
                <a:gridCol w="105156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$100.00 expected = $100.00 billed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A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wrong-price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+$20.00, unit $24.00 vs agreed $20.00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8A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of clean, not payable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PO, expected and difference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7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PO-S to PO-5: unresolved to reconciled, kept after restart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A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conflicting-supplier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PO-1 belongs to another supplier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7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multi-line-price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+$10.00 on the ADP-2 line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8A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short-receipt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4 of 6; no amount invented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8A0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built to catch shortcuts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+ 4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supplied seed invoices plus generated ones, both layouts, multi-line</a:t>
            </a:r>
            <a:endParaRPr lang="en-US" sz="1200" dirty="0"/>
          </a:p>
        </p:txBody>
      </p:sp>
      <p:sp>
        <p:nvSpPr>
          <p:cNvPr id="5" name="trap dot 0"/>
          <p:cNvSpPr/>
          <p:nvPr/>
        </p:nvSpPr>
        <p:spPr>
          <a:xfrm>
            <a:off x="2606040" y="123444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060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PO-1 and PO-2 are identical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5179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Only the PO-ID can match; amount-based matching cannot.</a:t>
            </a:r>
            <a:endParaRPr lang="en-US" sz="1150" dirty="0"/>
          </a:p>
        </p:txBody>
      </p:sp>
      <p:sp>
        <p:nvSpPr>
          <p:cNvPr id="9" name="trap dot 1"/>
          <p:cNvSpPr/>
          <p:nvPr/>
        </p:nvSpPr>
        <p:spPr>
          <a:xfrm>
            <a:off x="2606040" y="210312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Two byte-identical images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386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clean vs duplicate: the first processed is the original.</a:t>
            </a:r>
            <a:endParaRPr lang="en-US" sz="1150" dirty="0"/>
          </a:p>
        </p:txBody>
      </p:sp>
      <p:sp>
        <p:nvSpPr>
          <p:cNvPr id="13" name="trap dot 2"/>
          <p:cNvSpPr/>
          <p:nvPr/>
        </p:nvSpPr>
        <p:spPr>
          <a:xfrm>
            <a:off x="2606040" y="297180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Same SKU, different price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255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S2 pays 18.00 for CAB-1: prices come from the matched PO only.</a:t>
            </a:r>
            <a:endParaRPr lang="en-US" sz="1150" dirty="0"/>
          </a:p>
        </p:txBody>
      </p:sp>
      <p:sp>
        <p:nvSpPr>
          <p:cNvPr id="17" name="trap dot 3"/>
          <p:cNvSpPr/>
          <p:nvPr/>
        </p:nvSpPr>
        <p:spPr>
          <a:xfrm>
            <a:off x="2606040" y="384048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Wrong supplier, amounts fit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123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PO-1 belongs to S1, so it stays unresolved.</a:t>
            </a:r>
            <a:endParaRPr lang="en-US" sz="1150" dirty="0"/>
          </a:p>
        </p:txBody>
      </p:sp>
      <p:sp>
        <p:nvSpPr>
          <p:cNvPr id="21" name="ambiguity panel"/>
          <p:cNvSpPr/>
          <p:nvPr/>
        </p:nvSpPr>
        <p:spPr>
          <a:xfrm>
            <a:off x="5943600" y="1188720"/>
            <a:ext cx="2743200" cy="338328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Gaps in the rules, made explicit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173736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Short receipt: flagged, no amount invented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Undercharge: shown, not recoverable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Duplicate and discrepant: duplicate wins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 unresolved line: whole invoice unresolved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15 ambiguities logged; open questions went to me, not decided silently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an implement, test, review loop</a:t>
            </a:r>
            <a:endParaRPr lang="en-US" sz="2800" dirty="0"/>
          </a:p>
        </p:txBody>
      </p:sp>
      <p:sp>
        <p:nvSpPr>
          <p:cNvPr id="3" name="loop Orchestrator"/>
          <p:cNvSpPr/>
          <p:nvPr/>
        </p:nvSpPr>
        <p:spPr>
          <a:xfrm>
            <a:off x="457200" y="1188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9844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Orchestrator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6459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plans the phase</a:t>
            </a:r>
            <a:endParaRPr lang="en-US" sz="1100" dirty="0"/>
          </a:p>
        </p:txBody>
      </p:sp>
      <p:sp>
        <p:nvSpPr>
          <p:cNvPr id="6" name="loop arrow 0"/>
          <p:cNvSpPr/>
          <p:nvPr/>
        </p:nvSpPr>
        <p:spPr>
          <a:xfrm>
            <a:off x="1938528" y="1623060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loop Implementer"/>
          <p:cNvSpPr/>
          <p:nvPr/>
        </p:nvSpPr>
        <p:spPr>
          <a:xfrm>
            <a:off x="2139696" y="1188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2848" y="129844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Implementer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6459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writes code + tests</a:t>
            </a:r>
            <a:endParaRPr lang="en-US" sz="1100" dirty="0"/>
          </a:p>
        </p:txBody>
      </p:sp>
      <p:sp>
        <p:nvSpPr>
          <p:cNvPr id="10" name="loop arrow 1"/>
          <p:cNvSpPr/>
          <p:nvPr/>
        </p:nvSpPr>
        <p:spPr>
          <a:xfrm>
            <a:off x="3621024" y="1623060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loop pytest gate"/>
          <p:cNvSpPr/>
          <p:nvPr/>
        </p:nvSpPr>
        <p:spPr>
          <a:xfrm>
            <a:off x="3822192" y="1188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95344" y="129844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pytest gate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95344" y="16459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replay, no key</a:t>
            </a:r>
            <a:endParaRPr lang="en-US" sz="1100" dirty="0"/>
          </a:p>
        </p:txBody>
      </p:sp>
      <p:sp>
        <p:nvSpPr>
          <p:cNvPr id="14" name="loop arrow 2"/>
          <p:cNvSpPr/>
          <p:nvPr/>
        </p:nvSpPr>
        <p:spPr>
          <a:xfrm>
            <a:off x="5303520" y="1623060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loop Reviewer"/>
          <p:cNvSpPr/>
          <p:nvPr/>
        </p:nvSpPr>
        <p:spPr>
          <a:xfrm>
            <a:off x="5504688" y="1188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129844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Reviewer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16459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read-only, checklist</a:t>
            </a:r>
            <a:endParaRPr lang="en-US" sz="1100" dirty="0"/>
          </a:p>
        </p:txBody>
      </p:sp>
      <p:sp>
        <p:nvSpPr>
          <p:cNvPr id="18" name="loop arrow 3"/>
          <p:cNvSpPr/>
          <p:nvPr/>
        </p:nvSpPr>
        <p:spPr>
          <a:xfrm>
            <a:off x="6986016" y="1623060"/>
            <a:ext cx="1828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loop Me"/>
          <p:cNvSpPr/>
          <p:nvPr/>
        </p:nvSpPr>
        <p:spPr>
          <a:xfrm>
            <a:off x="7187184" y="1188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0336" y="129844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60336" y="16459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approve each phase</a:t>
            </a:r>
            <a:endParaRPr lang="en-US" sz="1100" dirty="0"/>
          </a:p>
        </p:txBody>
      </p:sp>
      <p:sp>
        <p:nvSpPr>
          <p:cNvPr id="23" name="catch 0"/>
          <p:cNvSpPr/>
          <p:nvPr/>
        </p:nvSpPr>
        <p:spPr>
          <a:xfrm>
            <a:off x="457200" y="265176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Implementer stopped and asked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A rule from phase 1 made all four seed invoices invalid (the images print no description). I changed the rule; the doc version was snapshotted.</a:t>
            </a:r>
            <a:endParaRPr lang="en-US" sz="1150" dirty="0"/>
          </a:p>
        </p:txBody>
      </p:sp>
      <p:sp>
        <p:nvSpPr>
          <p:cNvPr id="26" name="catch 1"/>
          <p:cNvSpPr/>
          <p:nvPr/>
        </p:nvSpPr>
        <p:spPr>
          <a:xfrm>
            <a:off x="3246120" y="265176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10712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Reviewer blocked a phase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10712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The UI crashed on an older Streamlit, and a skip-if-missing test hid the correction flow. Fixed in round 2.</a:t>
            </a:r>
            <a:endParaRPr lang="en-US" sz="1150" dirty="0"/>
          </a:p>
        </p:txBody>
      </p:sp>
      <p:sp>
        <p:nvSpPr>
          <p:cNvPr id="29" name="catch 2"/>
          <p:cNvSpPr/>
          <p:nvPr/>
        </p:nvSpPr>
        <p:spPr>
          <a:xfrm>
            <a:off x="6035040" y="2651760"/>
            <a:ext cx="26060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9632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Checks caught a spec conflict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The expected file and the app disagreed on which invoices are payable; the checker had skipped the field. Resolved as a recorded decision.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Eight clean, rendered invoices: little evidence of extraction accuracy on real scans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The correction case starts from a labelled simulated misread, not a real model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The note guard checks that amounts exist in the findings, not that each is in the right place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One PO per invoice, USD only; a corrupt state file stops a run (visibly)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Next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828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Evaluate extraction on scanned and noisy invoices, per field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Field-level note guard and PDF input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Export of the queue and reviewer decision history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ger">
  <a:themeElements>
    <a:clrScheme name="Ledger">
      <a:dk1>
        <a:srgbClr val="1C2B33"/>
      </a:dk1>
      <a:lt1>
        <a:srgbClr val="FFFFFF"/>
      </a:lt1>
      <a:dk2>
        <a:srgbClr val="24443A"/>
      </a:dk2>
      <a:lt2>
        <a:srgbClr val="EEF3F0"/>
      </a:lt2>
      <a:accent1>
        <a:srgbClr val="2F7A57"/>
      </a:accent1>
      <a:accent2>
        <a:srgbClr val="D18A06"/>
      </a:accent2>
      <a:accent3>
        <a:srgbClr val="B5473A"/>
      </a:accent3>
      <a:accent4>
        <a:srgbClr val="6B7A83"/>
      </a:accent4>
      <a:accent5>
        <a:srgbClr val="3B6EA5"/>
      </a:accent5>
      <a:accent6>
        <a:srgbClr val="A9CBB7"/>
      </a:accent6>
      <a:hlink>
        <a:srgbClr val="3B6EA5"/>
      </a:hlink>
      <a:folHlink>
        <a:srgbClr val="6B7A83"/>
      </a:folHlink>
    </a:clrScheme>
    <a:fontScheme name="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1511</Words>
  <Application>Microsoft Office PowerPoint</Application>
  <PresentationFormat>On-screen Show (16:9)</PresentationFormat>
  <Paragraphs>164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Ledger</vt:lpstr>
      <vt:lpstr>Invoice reconciliation &amp; review</vt:lpstr>
      <vt:lpstr>One pipeline, two jobs for the model</vt:lpstr>
      <vt:lpstr>Decisions that keep the numbers trustworthy</vt:lpstr>
      <vt:lpstr>The reviewer sees evidence, not just a verdict</vt:lpstr>
      <vt:lpstr>11 of 11 checks pass against independent results</vt:lpstr>
      <vt:lpstr>Test data built to catch shortcuts</vt:lpstr>
      <vt:lpstr>Built with an implement, test, review loop</vt:lpstr>
      <vt:lpstr>Honest limits and next steps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reconciliation &amp; review</dc:title>
  <dc:subject>PptxGenJS Presentation</dc:subject>
  <dc:creator>Aleksandar</dc:creator>
  <cp:lastModifiedBy>alpesh</cp:lastModifiedBy>
  <cp:revision>2</cp:revision>
  <dcterms:created xsi:type="dcterms:W3CDTF">2026-10-09T11:29:44Z</dcterms:created>
  <dcterms:modified xsi:type="dcterms:W3CDTF">2026-10-09T11:45:30Z</dcterms:modified>
</cp:coreProperties>
</file>